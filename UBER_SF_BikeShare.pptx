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notesMasterIdLst>
    <p:notesMasterId r:id="rId12"/>
  </p:notesMasterIdLst>
  <p:sldIdLst>
    <p:sldId id="277" r:id="rId2"/>
    <p:sldId id="275" r:id="rId3"/>
    <p:sldId id="265" r:id="rId4"/>
    <p:sldId id="266" r:id="rId5"/>
    <p:sldId id="264" r:id="rId6"/>
    <p:sldId id="267" r:id="rId7"/>
    <p:sldId id="268" r:id="rId8"/>
    <p:sldId id="269" r:id="rId9"/>
    <p:sldId id="272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A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74B99-223F-458E-939A-B56E07F5C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D874D-FBCA-4F3E-A63E-674D82ED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78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D874D-FBCA-4F3E-A63E-674D82ED0F7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3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70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54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54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68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81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66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1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2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39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0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BBF059A-C11B-4A1A-88A6-C86E9C806DC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093513E-9283-49CC-92B8-77ED8C581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186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bicycles parked in front of a bridge">
            <a:extLst>
              <a:ext uri="{FF2B5EF4-FFF2-40B4-BE49-F238E27FC236}">
                <a16:creationId xmlns:a16="http://schemas.microsoft.com/office/drawing/2014/main" id="{D2E3D004-60F0-A6B6-B4A6-8A5899DBD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50" y="-1"/>
            <a:ext cx="1051333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3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67EAA7-E8AA-9262-5D29-2778182CB338}"/>
              </a:ext>
            </a:extLst>
          </p:cNvPr>
          <p:cNvSpPr txBox="1"/>
          <p:nvPr/>
        </p:nvSpPr>
        <p:spPr>
          <a:xfrm>
            <a:off x="690880" y="701040"/>
            <a:ext cx="1083056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Tools</a:t>
            </a:r>
          </a:p>
          <a:p>
            <a:pPr algn="ctr"/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 Python for data cleaning , EDA and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: created new metrics (Trip duration in min , SF vs non-SF Stations).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set : Reduced the data set from 90k rows to around 70k rows to focus on SF-region 22% size reduction , makes it better for handling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Stats: mean , median , percentages, KPI’s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Charts in Tableau</a:t>
            </a:r>
          </a:p>
          <a:p>
            <a:endParaRPr lang="en-IN" dirty="0"/>
          </a:p>
        </p:txBody>
      </p:sp>
      <p:sp>
        <p:nvSpPr>
          <p:cNvPr id="3" name="AutoShape 2" descr="Data Analysis Hd Transparent, Hand Drawn Cartoon Big Data Analysis 2 5d,  Hand Painted, Cartoon, Big Data PNG Image For Free Download">
            <a:extLst>
              <a:ext uri="{FF2B5EF4-FFF2-40B4-BE49-F238E27FC236}">
                <a16:creationId xmlns:a16="http://schemas.microsoft.com/office/drawing/2014/main" id="{E72861C0-5AF8-F9FD-537E-7AAB4753DC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7440" y="3276600"/>
            <a:ext cx="3870960" cy="387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A computer screen shot of a computer">
            <a:extLst>
              <a:ext uri="{FF2B5EF4-FFF2-40B4-BE49-F238E27FC236}">
                <a16:creationId xmlns:a16="http://schemas.microsoft.com/office/drawing/2014/main" id="{12B13804-0A5D-0C11-D41C-1D9408FFE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174" y="2586673"/>
            <a:ext cx="4759960" cy="475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73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0ED4B-A719-B6AB-6EB4-D0D90CC9DA87}"/>
              </a:ext>
            </a:extLst>
          </p:cNvPr>
          <p:cNvSpPr txBox="1"/>
          <p:nvPr/>
        </p:nvSpPr>
        <p:spPr>
          <a:xfrm>
            <a:off x="255638" y="382524"/>
            <a:ext cx="1167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1C72C-C190-885E-98D5-6EFC828B6194}"/>
              </a:ext>
            </a:extLst>
          </p:cNvPr>
          <p:cNvSpPr/>
          <p:nvPr/>
        </p:nvSpPr>
        <p:spPr>
          <a:xfrm>
            <a:off x="255637" y="956187"/>
            <a:ext cx="3706761" cy="2428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71BD61-5234-CE32-89A3-1FFD06A98268}"/>
              </a:ext>
            </a:extLst>
          </p:cNvPr>
          <p:cNvSpPr/>
          <p:nvPr/>
        </p:nvSpPr>
        <p:spPr>
          <a:xfrm>
            <a:off x="4237702" y="956187"/>
            <a:ext cx="3706761" cy="2428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1EBFC1-E28F-078E-6ACF-77A579A10597}"/>
              </a:ext>
            </a:extLst>
          </p:cNvPr>
          <p:cNvSpPr/>
          <p:nvPr/>
        </p:nvSpPr>
        <p:spPr>
          <a:xfrm>
            <a:off x="8219767" y="956187"/>
            <a:ext cx="3706761" cy="2428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C6802-1A90-744D-A4FF-2B13EB0C7C23}"/>
              </a:ext>
            </a:extLst>
          </p:cNvPr>
          <p:cNvSpPr/>
          <p:nvPr/>
        </p:nvSpPr>
        <p:spPr>
          <a:xfrm>
            <a:off x="280218" y="3918155"/>
            <a:ext cx="3706761" cy="2428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8CD4AD-4D86-5578-C211-ADB390353B8E}"/>
              </a:ext>
            </a:extLst>
          </p:cNvPr>
          <p:cNvSpPr/>
          <p:nvPr/>
        </p:nvSpPr>
        <p:spPr>
          <a:xfrm>
            <a:off x="4262283" y="3918155"/>
            <a:ext cx="3706761" cy="2428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E37D31-5A77-9C90-33EB-E28EAF9E7CC2}"/>
              </a:ext>
            </a:extLst>
          </p:cNvPr>
          <p:cNvSpPr/>
          <p:nvPr/>
        </p:nvSpPr>
        <p:spPr>
          <a:xfrm>
            <a:off x="8254183" y="3918155"/>
            <a:ext cx="3706761" cy="2428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CE1F6D-8962-B5FA-CAAB-7F9EA002457E}"/>
              </a:ext>
            </a:extLst>
          </p:cNvPr>
          <p:cNvSpPr txBox="1"/>
          <p:nvPr/>
        </p:nvSpPr>
        <p:spPr>
          <a:xfrm>
            <a:off x="471948" y="1238865"/>
            <a:ext cx="3333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70,897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Trips Completed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D005C-B2F8-FD39-F6B5-CF1B89779768}"/>
              </a:ext>
            </a:extLst>
          </p:cNvPr>
          <p:cNvSpPr txBox="1"/>
          <p:nvPr/>
        </p:nvSpPr>
        <p:spPr>
          <a:xfrm>
            <a:off x="4424514" y="1285256"/>
            <a:ext cx="3333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410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Bikes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A66009-2BB0-5B1E-E026-2844592B4C96}"/>
              </a:ext>
            </a:extLst>
          </p:cNvPr>
          <p:cNvSpPr txBox="1"/>
          <p:nvPr/>
        </p:nvSpPr>
        <p:spPr>
          <a:xfrm>
            <a:off x="8386916" y="1250440"/>
            <a:ext cx="3333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 codes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24710-FCEF-4B6C-C36C-CA3BC240B844}"/>
              </a:ext>
            </a:extLst>
          </p:cNvPr>
          <p:cNvSpPr txBox="1"/>
          <p:nvPr/>
        </p:nvSpPr>
        <p:spPr>
          <a:xfrm>
            <a:off x="442449" y="4055807"/>
            <a:ext cx="3333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Stations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92B989-9797-912F-EA65-9110B6CB9E3F}"/>
              </a:ext>
            </a:extLst>
          </p:cNvPr>
          <p:cNvSpPr txBox="1"/>
          <p:nvPr/>
        </p:nvSpPr>
        <p:spPr>
          <a:xfrm>
            <a:off x="4281950" y="4055807"/>
            <a:ext cx="3333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20,466 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Hours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86F464-DEAC-6BF9-AA32-AD5F3CBA6756}"/>
              </a:ext>
            </a:extLst>
          </p:cNvPr>
          <p:cNvSpPr txBox="1"/>
          <p:nvPr/>
        </p:nvSpPr>
        <p:spPr>
          <a:xfrm>
            <a:off x="8386916" y="4055807"/>
            <a:ext cx="3333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min.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length of a ride </a:t>
            </a:r>
          </a:p>
        </p:txBody>
      </p:sp>
      <p:pic>
        <p:nvPicPr>
          <p:cNvPr id="11274" name="Picture 10" descr="Cycling persons Vector Images | Depositphotos">
            <a:extLst>
              <a:ext uri="{FF2B5EF4-FFF2-40B4-BE49-F238E27FC236}">
                <a16:creationId xmlns:a16="http://schemas.microsoft.com/office/drawing/2014/main" id="{D86A263D-CD0F-974D-AE89-3E6F4F4FE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65"/>
          <a:stretch>
            <a:fillRect/>
          </a:stretch>
        </p:blipFill>
        <p:spPr bwMode="auto">
          <a:xfrm>
            <a:off x="3201710" y="2465688"/>
            <a:ext cx="760688" cy="89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Cycling persons Vector Images | Depositphotos">
            <a:extLst>
              <a:ext uri="{FF2B5EF4-FFF2-40B4-BE49-F238E27FC236}">
                <a16:creationId xmlns:a16="http://schemas.microsoft.com/office/drawing/2014/main" id="{3F2A745F-2092-59E6-EFDD-B69E9C21B1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865"/>
          <a:stretch>
            <a:fillRect/>
          </a:stretch>
        </p:blipFill>
        <p:spPr bwMode="auto">
          <a:xfrm>
            <a:off x="265472" y="2439194"/>
            <a:ext cx="760688" cy="89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2" name="Picture 18" descr="Collection of colorful bikes in flat design | Free Vector">
            <a:extLst>
              <a:ext uri="{FF2B5EF4-FFF2-40B4-BE49-F238E27FC236}">
                <a16:creationId xmlns:a16="http://schemas.microsoft.com/office/drawing/2014/main" id="{BE3CD829-BB74-7692-C36B-8F5BF77725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58"/>
          <a:stretch>
            <a:fillRect/>
          </a:stretch>
        </p:blipFill>
        <p:spPr bwMode="auto">
          <a:xfrm>
            <a:off x="4262283" y="2600365"/>
            <a:ext cx="1194620" cy="75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6" name="Picture 22" descr="Vector sign of the Path route symbol is isolated on a white background.  Path route icon color editable. 9688149 Vector Art at Vecteezy">
            <a:extLst>
              <a:ext uri="{FF2B5EF4-FFF2-40B4-BE49-F238E27FC236}">
                <a16:creationId xmlns:a16="http://schemas.microsoft.com/office/drawing/2014/main" id="{AF0FA94E-37F8-D554-68F2-AFA1CFBBEA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7" t="22403" r="22179" b="18115"/>
          <a:stretch>
            <a:fillRect/>
          </a:stretch>
        </p:blipFill>
        <p:spPr bwMode="auto">
          <a:xfrm>
            <a:off x="8254183" y="2243916"/>
            <a:ext cx="985521" cy="114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0" name="Picture 26" descr="Stop Bike 3D Illustrations - Free Download in PNG, glTF">
            <a:extLst>
              <a:ext uri="{FF2B5EF4-FFF2-40B4-BE49-F238E27FC236}">
                <a16:creationId xmlns:a16="http://schemas.microsoft.com/office/drawing/2014/main" id="{31968CC2-6320-91D8-91B2-48AA0BEE5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18" y="4867762"/>
            <a:ext cx="1722941" cy="172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6" name="Picture 32" descr="Riding Habit: Over 436 Royalty-Free Licensable Stock Illustrations &amp;  Drawings | Shutterstock">
            <a:extLst>
              <a:ext uri="{FF2B5EF4-FFF2-40B4-BE49-F238E27FC236}">
                <a16:creationId xmlns:a16="http://schemas.microsoft.com/office/drawing/2014/main" id="{0A2F12C9-4056-CCAD-73E5-CEC0F05609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3" b="10881"/>
          <a:stretch>
            <a:fillRect/>
          </a:stretch>
        </p:blipFill>
        <p:spPr bwMode="auto">
          <a:xfrm>
            <a:off x="4281950" y="5343410"/>
            <a:ext cx="1282616" cy="98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00" name="Picture 36" descr="Time passing icon, vector illustration. Flat design style. vector time  passing icon illustration isolated on white background, time passing icon,  time passing icons graphic design vector symbols Stock-vektor | Adobe Stock">
            <a:extLst>
              <a:ext uri="{FF2B5EF4-FFF2-40B4-BE49-F238E27FC236}">
                <a16:creationId xmlns:a16="http://schemas.microsoft.com/office/drawing/2014/main" id="{E9F2B8C7-4C4C-D7FB-2644-6024B4B9A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06" y="5390035"/>
            <a:ext cx="953898" cy="9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73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63B30-9A86-9A41-F566-C46715926CA3}"/>
              </a:ext>
            </a:extLst>
          </p:cNvPr>
          <p:cNvSpPr txBox="1"/>
          <p:nvPr/>
        </p:nvSpPr>
        <p:spPr>
          <a:xfrm>
            <a:off x="167148" y="176981"/>
            <a:ext cx="11434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3A7BB-EBF0-4ADD-2A36-DBE044173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1576608"/>
            <a:ext cx="9591040" cy="5104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4033A2-0EFB-BB14-F1B2-9C3F678A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1169132"/>
            <a:ext cx="1425063" cy="304826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21169F6B-7F15-AA7F-0CAB-3FD905F4B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480" y="-157258"/>
            <a:ext cx="814832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grew steadily Mar to Jun (+20%).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in June (+8.2%), slowed in July (+4.2%).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August dip (-0.9%) .</a:t>
            </a:r>
          </a:p>
        </p:txBody>
      </p:sp>
    </p:spTree>
    <p:extLst>
      <p:ext uri="{BB962C8B-B14F-4D97-AF65-F5344CB8AC3E}">
        <p14:creationId xmlns:p14="http://schemas.microsoft.com/office/powerpoint/2010/main" val="116750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A30EDB-3A10-7D5B-3691-B232BCB610A1}"/>
              </a:ext>
            </a:extLst>
          </p:cNvPr>
          <p:cNvSpPr txBox="1"/>
          <p:nvPr/>
        </p:nvSpPr>
        <p:spPr>
          <a:xfrm>
            <a:off x="206477" y="142569"/>
            <a:ext cx="1188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87% of rides are weekday commutes; weekends are underutilized (13%). Weekday rides are short (typically 8–9 min ) with sharp peaks at 8am/5pm; Weekend rides are longer (leisure, appx. 20+ min) and spread across midday.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82B1C1-831C-0567-2E35-7EE502717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000" y="1468675"/>
            <a:ext cx="8170640" cy="524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D83F9-515B-7ADE-871C-5A9D565238FA}"/>
              </a:ext>
            </a:extLst>
          </p:cNvPr>
          <p:cNvSpPr txBox="1"/>
          <p:nvPr/>
        </p:nvSpPr>
        <p:spPr>
          <a:xfrm>
            <a:off x="5232400" y="0"/>
            <a:ext cx="1577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pattern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94175-B204-5D24-47FD-225605A7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22" y="2172341"/>
            <a:ext cx="5174624" cy="4459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BA3D9-FA19-552C-27DE-A4C6DF67F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291" y="2172341"/>
            <a:ext cx="6279087" cy="44599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7D7003-6977-22CB-B482-D418E20F93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677"/>
          <a:stretch>
            <a:fillRect/>
          </a:stretch>
        </p:blipFill>
        <p:spPr>
          <a:xfrm>
            <a:off x="912405" y="2343687"/>
            <a:ext cx="1437504" cy="3180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DF9E46-A67E-79A5-3DE9-EB224225327A}"/>
              </a:ext>
            </a:extLst>
          </p:cNvPr>
          <p:cNvSpPr txBox="1"/>
          <p:nvPr/>
        </p:nvSpPr>
        <p:spPr>
          <a:xfrm>
            <a:off x="212021" y="479346"/>
            <a:ext cx="652635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 = 84% of rides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 strong, stable base revenue.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= 16% of rides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share has stayed flat  , limited growth from casual riders.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rides concentrated between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8am–5pm -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commute-focused usage.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longer rides, more frequent 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leisure-driven.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7CAB1-C036-0267-8D25-C53DABE7430F}"/>
              </a:ext>
            </a:extLst>
          </p:cNvPr>
          <p:cNvSpPr txBox="1"/>
          <p:nvPr/>
        </p:nvSpPr>
        <p:spPr>
          <a:xfrm>
            <a:off x="7030720" y="548313"/>
            <a:ext cx="49492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Subscriber base ensures predictable revenue, but growth depends on expanding casual riders and converting them into subscribers (especially through midday and weekend opportunities).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0160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BAA84DA-C1B9-A537-4507-4425E142B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78" y="1645038"/>
            <a:ext cx="8387843" cy="48607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A8AAB2-8F00-D59A-D4DD-A4048DC08BF0}"/>
              </a:ext>
            </a:extLst>
          </p:cNvPr>
          <p:cNvSpPr txBox="1"/>
          <p:nvPr/>
        </p:nvSpPr>
        <p:spPr>
          <a:xfrm>
            <a:off x="116077" y="5791200"/>
            <a:ext cx="5796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53421-6EBE-B8C9-0B09-45473367856A}"/>
              </a:ext>
            </a:extLst>
          </p:cNvPr>
          <p:cNvSpPr txBox="1"/>
          <p:nvPr/>
        </p:nvSpPr>
        <p:spPr>
          <a:xfrm>
            <a:off x="1838633" y="615295"/>
            <a:ext cx="86345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 see fewer subscribers but more customer activity with longer midday rides. This shift suggests growth potential through weekend promotions.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7261BB-C269-A111-7D61-1E37EA91A429}"/>
              </a:ext>
            </a:extLst>
          </p:cNvPr>
          <p:cNvSpPr txBox="1"/>
          <p:nvPr/>
        </p:nvSpPr>
        <p:spPr>
          <a:xfrm>
            <a:off x="4673600" y="80556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Pattern (Weekend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6507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FCD1B-AAB4-4855-9CF9-2F2D0BE64864}"/>
              </a:ext>
            </a:extLst>
          </p:cNvPr>
          <p:cNvSpPr txBox="1"/>
          <p:nvPr/>
        </p:nvSpPr>
        <p:spPr>
          <a:xfrm>
            <a:off x="142568" y="97339"/>
            <a:ext cx="1190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Utilization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E2338-6E89-C06A-DEED-31D7F71DFF00}"/>
              </a:ext>
            </a:extLst>
          </p:cNvPr>
          <p:cNvSpPr txBox="1"/>
          <p:nvPr/>
        </p:nvSpPr>
        <p:spPr>
          <a:xfrm>
            <a:off x="40968" y="665355"/>
            <a:ext cx="58924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Trips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bikes: 150–300 trips - strong demand.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underused (&lt;50 trips)  - idle assets or repair needs.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maintenance on high-use bikes, redistribute low-use bikes = higher reliability &amp; revenue efficiency.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80CF77-3E76-04FE-43BD-563EEB96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9919"/>
            <a:ext cx="5415280" cy="41780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95D12D-4E73-8036-DECD-9028178DC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555" y="2679919"/>
            <a:ext cx="6602488" cy="4178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1CE3A5-B0A9-A107-9113-78626B2C6DEA}"/>
              </a:ext>
            </a:extLst>
          </p:cNvPr>
          <p:cNvSpPr txBox="1"/>
          <p:nvPr/>
        </p:nvSpPr>
        <p:spPr>
          <a:xfrm>
            <a:off x="6258562" y="557633"/>
            <a:ext cx="5486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Popular Durations: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Majority of trips are short rides (&lt;20 min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Trips (120+ min):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investigation – Might indicate leisure/sightseeing, multiple stops, all-day commute, or bike/lock issues.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long trip may block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3–4 short rides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efficiency and revenue potential.</a:t>
            </a:r>
          </a:p>
        </p:txBody>
      </p:sp>
    </p:spTree>
    <p:extLst>
      <p:ext uri="{BB962C8B-B14F-4D97-AF65-F5344CB8AC3E}">
        <p14:creationId xmlns:p14="http://schemas.microsoft.com/office/powerpoint/2010/main" val="281164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905EF-736D-75DA-F1EB-408225C2378D}"/>
              </a:ext>
            </a:extLst>
          </p:cNvPr>
          <p:cNvSpPr txBox="1"/>
          <p:nvPr/>
        </p:nvSpPr>
        <p:spPr>
          <a:xfrm>
            <a:off x="254000" y="616790"/>
            <a:ext cx="4573639" cy="49859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 (Most arrivals):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 Francisco Caltrain (Townsend at 4th) , San Francisco Caltrain 2 (330 Townsend)</a:t>
            </a:r>
          </a:p>
          <a:p>
            <a:pPr lvl="0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 (Most departures):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 Francisco Caltrain (Townsend at 4th) 2nd at Townsend </a:t>
            </a:r>
          </a:p>
          <a:p>
            <a:pPr lvl="0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Givers (Send more bikes out):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Temporary Transbay Terminal (Howard at Beale) , Harry Bridges Plaza (Ferry Building)</a:t>
            </a:r>
          </a:p>
          <a:p>
            <a:pPr lvl="0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Receivers (Receive more bikes in):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 Francisco Caltrain (Townsend at 4th) Embarcadero at Sansome </a:t>
            </a:r>
          </a:p>
          <a:p>
            <a:pPr lvl="0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zip codes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94107, 94105, Unknown, 94103, 94111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026080-717B-A047-1209-8075666B4D5B}"/>
              </a:ext>
            </a:extLst>
          </p:cNvPr>
          <p:cNvSpPr txBox="1"/>
          <p:nvPr/>
        </p:nvSpPr>
        <p:spPr>
          <a:xfrm>
            <a:off x="5842000" y="614966"/>
            <a:ext cx="6096000" cy="5095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Bottom 5 Least Used Stations</a:t>
            </a:r>
            <a:r>
              <a:rPr lang="en-IN" sz="16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16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MLK Library SF City Hall Washington at Kearny Golden Gate at Polk Broadway St at Battery St </a:t>
            </a:r>
            <a:endParaRPr lang="en-IN" sz="1600" kern="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busiest stations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Caltrain (Townsend at 4th), Ferry Building, Embarcadero at Sansome, Caltrain 2 (330 Townsend),</a:t>
            </a:r>
            <a:r>
              <a:rPr lang="en-IN" b="1" dirty="0"/>
              <a:t>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at Sansome 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31%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traffic comes from the top 5 stations. 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6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Top 5 Busiest Routes</a:t>
            </a:r>
            <a:r>
              <a:rPr lang="en-IN" sz="1600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Ferry Building → Embarcadero at Sansome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Townsend at 7th → Caltrain (Townsend at 4th):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Caltrain 2 (330 Townsend) → Townsend at 7th.</a:t>
            </a:r>
            <a:endParaRPr lang="en-IN" sz="1600" kern="100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2nd at Townsend → Ferry Building</a:t>
            </a:r>
            <a:endParaRPr lang="en-IN" sz="1600" kern="100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Embarcadero at Sansome → Steuart at Market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0AE645-7864-08CE-0378-32ED0EE284E2}"/>
              </a:ext>
            </a:extLst>
          </p:cNvPr>
          <p:cNvSpPr txBox="1"/>
          <p:nvPr/>
        </p:nvSpPr>
        <p:spPr>
          <a:xfrm>
            <a:off x="4064000" y="192931"/>
            <a:ext cx="341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Usage 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27FF359F-D601-F508-DFBC-938807353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946" y="5687212"/>
            <a:ext cx="861966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concentrated at few hubs; some stations underused.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Inbound = trip ends, Outbound = trip starts; net balance shows shortage or pile-up risk.(Assumed)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supply at hubs, rebalance flows, and promote low-demand stations to improve utilization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948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A0AC51-BDEC-59D4-66EC-8A9BF50381CD}"/>
              </a:ext>
            </a:extLst>
          </p:cNvPr>
          <p:cNvSpPr txBox="1"/>
          <p:nvPr/>
        </p:nvSpPr>
        <p:spPr>
          <a:xfrm>
            <a:off x="1358982" y="117693"/>
            <a:ext cx="994811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Recommendations / Next Steps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Rides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weekend leisure demand through targeted promotions - +8–10% growth could add 740–920 extra trips in 6 months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125–150 per month) with potential to convert to subscribers.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offices for dock space to expand commuter base and convert more subscribers.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Relocate or repurpose underused docks to maximize ROI.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Incentivize users with longer rides .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-‘X’ free miles after 100 miles 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top hubs (Caltrain, Ferry, Embarcadero) are always stocked.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flows with predictive rebalancing and rider incentives. (Points to finish at low inbound station)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maintenance on high-usage bikes to minimize downtime.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very long trips to prevent misuse and free bikes for more rides.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 promotions – A/B tests to check rider uptake /conversion to subscribers.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office partners - Secure agreements for new or expanded dock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station reallocation test - Close low-use /not financially viable docks and move capacity to a high-demand hub.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predictive models – Predict peak hours and stations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maintenance by trip count - Reduce breakdowns and downtime.(Assuming no maintenance has been done in between)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long-duration trips - identify misuse patterns and refine policies maybe introduce some maximum time limit or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tourist locations – Potential for introducing day passes.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2860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2791</TotalTime>
  <Words>905</Words>
  <Application>Microsoft Office PowerPoint</Application>
  <PresentationFormat>Widescreen</PresentationFormat>
  <Paragraphs>104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RUDRAJA VANSUTRE</dc:creator>
  <cp:lastModifiedBy>RUDRAJA VANSUTRE</cp:lastModifiedBy>
  <cp:revision>22</cp:revision>
  <dcterms:created xsi:type="dcterms:W3CDTF">2025-09-18T00:20:41Z</dcterms:created>
  <dcterms:modified xsi:type="dcterms:W3CDTF">2026-05-12T02:14:34Z</dcterms:modified>
</cp:coreProperties>
</file>